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Финальная защита. С промежуточного этапа: интегрированы официальные критерии кейсодателя, решение протестировано на 3 реальных документах в офлайн- и LLM-режиме, найденные баги исправлены.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Точной цифры в кейсе нет — показываем структуру издержек. Инструмент бьёт по первому множителю.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Один основной пользователь — аналитик. Сценарий короткий, один экран, полностью реализован.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Требования кейса. Главное отличие от «просто спросить LLM» — предметность и обязательная привязка к тексту, проверено не только в теории.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Эти 8 официальных критериев прислали организаторы отдельным файлом уже после старта работы — интегрированы в рубрику как приоритетные категории.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Скриншот — настоящий HTML-отчёт инструмента (cli.py --format html), не макет. LLM-режим на этих же документах нашёл более глубокие содержательные проблемы — см. следующий слайд.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пример из реального документа кейсодателя, не придуманный. Показывает, что инструмент ловит содержательные, а не только механические проблемы.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Показывает зрелость инженерного процесса жюри: не просто «прогнали и вроде работает», а нашли и закрыли конкретные дефекты по итогам реальных прогонов.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 эти риски были умозрительными; теперь у большинства пунктов есть подтверждение или опровержение по итогам прогонов на реальных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Ограничения — честно, без приукрашивания. План — конкретный, с приоритетом на реальные данные NET как главный недостающий кусок.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Оба Fırat и Yahya — AI Engineer, 50/50. Роли разделены по факту выполненной работы, а не формально.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28016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E553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2801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ТЗ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606040"/>
            <a:ext cx="11155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ТЗ-Ревьюер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584448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AI-инструмент для предварительного ревью технических заданий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разработку новых потоков и витрин данных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4754880"/>
            <a:ext cx="4754880" cy="0"/>
          </a:xfrm>
          <a:prstGeom prst="line">
            <a:avLst/>
          </a:prstGeom>
          <a:noFill/>
          <a:ln w="19050">
            <a:solidFill>
              <a:srgbClr val="3E5C7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493776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МТС · продукт NET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6 · финальная защита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Проверено на реальных документах кейсодателя, вживую с LLM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Engineer: Кайаал Яхья · Караташоглу Фырат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ПРОБЛЕМАТИКА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Часть проблем в ТЗ находится уже на разработке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535680" cy="1783080"/>
          </a:xfrm>
          <a:prstGeom prst="roundRect">
            <a:avLst>
              <a:gd name="adj" fmla="val 4103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04088" y="1810512"/>
            <a:ext cx="3133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ручной вычитки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212848"/>
            <a:ext cx="3133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Аналитики и разработчики вручную вычитывают объёмные ТЗ перед постановкой задачи.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2920" y="1645920"/>
            <a:ext cx="3535680" cy="1783080"/>
          </a:xfrm>
          <a:prstGeom prst="roundRect">
            <a:avLst>
              <a:gd name="adj" fmla="val 4103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14088" y="1810512"/>
            <a:ext cx="3133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Неоднозначность и пробелы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14088" y="2212848"/>
            <a:ext cx="3133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Расплывчатые формулировки и недостающие требования не всегда видны при чтении.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22920" y="1645920"/>
            <a:ext cx="3535680" cy="1783080"/>
          </a:xfrm>
          <a:prstGeom prst="roundRect">
            <a:avLst>
              <a:gd name="adj" fmla="val 4103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24088" y="1810512"/>
            <a:ext cx="3133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единого ревью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24088" y="2212848"/>
            <a:ext cx="3133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зависит от опыта и загрузки конкретного человека.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703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проблема всплывает поздно — запускается цикл повторной работы: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4114800"/>
            <a:ext cx="3352800" cy="868680"/>
          </a:xfrm>
          <a:prstGeom prst="roundRect">
            <a:avLst>
              <a:gd name="adj" fmla="val 8421"/>
            </a:avLst>
          </a:prstGeom>
          <a:solidFill>
            <a:srgbClr val="EEF2F7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114800"/>
            <a:ext cx="307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 правит ТЗ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910584" y="4114800"/>
            <a:ext cx="438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404360" y="4114800"/>
            <a:ext cx="3352800" cy="868680"/>
          </a:xfrm>
          <a:prstGeom prst="roundRect">
            <a:avLst>
              <a:gd name="adj" fmla="val 8421"/>
            </a:avLst>
          </a:prstGeom>
          <a:solidFill>
            <a:srgbClr val="EEF2F7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41520" y="4114800"/>
            <a:ext cx="307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 переделывает реализацию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812024" y="4114800"/>
            <a:ext cx="438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305800" y="4114800"/>
            <a:ext cx="3352800" cy="868680"/>
          </a:xfrm>
          <a:prstGeom prst="roundRect">
            <a:avLst>
              <a:gd name="adj" fmla="val 8421"/>
            </a:avLst>
          </a:prstGeom>
          <a:solidFill>
            <a:srgbClr val="EEF2F7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42960" y="4114800"/>
            <a:ext cx="307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Тестировщик перепроверяет сценарии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530352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322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035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проблемы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число поздних уточнений на одно ТЗ  ×  трудоёмкость цикла уточнения  ×  число ТЗ в квартал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И СЦЕНАРИЙ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Второе мнение по ТЗ до передачи в разработку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0817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пользователь — аналитик NET. Дополнительное ревью, не замена аналитика и не вердикт о готовности.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52728" y="2139696"/>
            <a:ext cx="512064" cy="512064"/>
          </a:xfrm>
          <a:prstGeom prst="ellipse">
            <a:avLst/>
          </a:prstGeom>
          <a:solidFill>
            <a:srgbClr val="1322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52728" y="2139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76148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Готовит ТЗ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3310128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/ Markdown / текст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532888" y="1965960"/>
            <a:ext cx="2560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88920" y="196596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38728" y="2139696"/>
            <a:ext cx="512064" cy="512064"/>
          </a:xfrm>
          <a:prstGeom prst="ellipse">
            <a:avLst/>
          </a:prstGeom>
          <a:solidFill>
            <a:srgbClr val="1322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38728" y="2139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898648" y="276148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Загружает ТЗ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898648" y="3310128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запускает проверку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18888" y="1965960"/>
            <a:ext cx="2560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74920" y="196596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24728" y="2139696"/>
            <a:ext cx="512064" cy="512064"/>
          </a:xfrm>
          <a:prstGeom prst="ellipse">
            <a:avLst/>
          </a:prstGeom>
          <a:solidFill>
            <a:srgbClr val="1322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24728" y="2139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84648" y="276148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 замечания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184648" y="3310128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привязкой к тексту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104888" y="1965960"/>
            <a:ext cx="2560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60920" y="196596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10728" y="2139696"/>
            <a:ext cx="512064" cy="512064"/>
          </a:xfrm>
          <a:prstGeom prst="ellipse">
            <a:avLst/>
          </a:prstGeom>
          <a:solidFill>
            <a:srgbClr val="13223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10728" y="2139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70648" y="276148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Отбирает значимые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470648" y="3310128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решает, что править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390888" y="1965960"/>
            <a:ext cx="2560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646920" y="1965960"/>
            <a:ext cx="2011680" cy="219456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396728" y="2139696"/>
            <a:ext cx="512064" cy="512064"/>
          </a:xfrm>
          <a:prstGeom prst="ellipse">
            <a:avLst/>
          </a:prstGeom>
          <a:solidFill>
            <a:srgbClr val="13223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396728" y="2139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756648" y="276148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Дорабатывает ТЗ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756648" y="3310128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отдаёт в разработку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461772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47914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Проверено не только на синтетике, но и на реальных ТЗ кейсодателя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513892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сценарий прогнан на 3 реальных документах МТС в офлайн- и LLM-режиме;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вторичные пользователи: разработчик и тимлид — быстрый входной чек перед оценкой задачи.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должно делать решение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6333134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569305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0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находить конкретные фрагменты, непонятные разработчику;</a:t>
            </a:r>
            <a:endParaRPr lang="en-US" sz="1450" dirty="0"/>
          </a:p>
          <a:p>
            <a:pPr marL="152400" indent="-152400">
              <a:lnSpc>
                <a:spcPct val="100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определять недостающую и неоднозначную информацию;</a:t>
            </a:r>
            <a:endParaRPr lang="en-US" sz="1450" dirty="0"/>
          </a:p>
          <a:p>
            <a:pPr marL="152400" indent="-152400">
              <a:lnSpc>
                <a:spcPct val="100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объяснять, почему фрагмент требует внимания;</a:t>
            </a:r>
            <a:endParaRPr lang="en-US" sz="1450" dirty="0"/>
          </a:p>
          <a:p>
            <a:pPr marL="152400" indent="-152400">
              <a:lnSpc>
                <a:spcPct val="100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предлагать, что уточнить или дополнить;</a:t>
            </a:r>
            <a:endParaRPr lang="en-US" sz="1450" dirty="0"/>
          </a:p>
          <a:p>
            <a:pPr marL="152400" indent="-152400">
              <a:lnSpc>
                <a:spcPct val="100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показывать, к какому разделу ТЗ относится замечание;</a:t>
            </a:r>
            <a:endParaRPr lang="en-US" sz="1450" dirty="0"/>
          </a:p>
          <a:p>
            <a:pPr marL="152400" indent="-152400">
              <a:lnSpc>
                <a:spcPct val="100000"/>
              </a:lnSpc>
              <a:spcAft>
                <a:spcPts val="1500"/>
              </a:spcAft>
              <a:buSzPct val="100000"/>
              <a:buChar char="•"/>
            </a:pPr>
            <a:r>
              <a:rPr lang="en-US" sz="14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формировать общий результат проверки документа.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018934" y="1737360"/>
            <a:ext cx="4639666" cy="4114800"/>
          </a:xfrm>
          <a:prstGeom prst="roundRect">
            <a:avLst>
              <a:gd name="adj" fmla="val 1778"/>
            </a:avLst>
          </a:prstGeom>
          <a:solidFill>
            <a:srgbClr val="1322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1542" y="2057400"/>
            <a:ext cx="40544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ПРИНЦИП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1542" y="2468880"/>
            <a:ext cx="405445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Замечание привязано к конкретному фрагменту ТЗ, а не является общим советом.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311542" y="4160520"/>
            <a:ext cx="405445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Подтверждено на практике: на реальных документах кейсодателя абсолютное большинство замечаний LLM-режима содержали дословную цитату.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ТЕХНИЧЕСКОЕ РЕШЕНИЕ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Пайплайн предварительного ревью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93408" cy="822960"/>
          </a:xfrm>
          <a:prstGeom prst="roundRect">
            <a:avLst>
              <a:gd name="adj" fmla="val 7778"/>
            </a:avLst>
          </a:prstGeom>
          <a:solidFill>
            <a:srgbClr val="EEF2F7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02536"/>
            <a:ext cx="384048" cy="384048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5687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документа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212848"/>
            <a:ext cx="5687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.md / .txt / .docx с таблицами → разбивка на разделы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34056"/>
            <a:ext cx="6693408" cy="822960"/>
          </a:xfrm>
          <a:prstGeom prst="roundRect">
            <a:avLst>
              <a:gd name="adj" fmla="val 7778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953512"/>
            <a:ext cx="384048" cy="384048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852928"/>
            <a:ext cx="5687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 шаблона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163824"/>
            <a:ext cx="5687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официальный шаблон МТС, 21 раздел — что не найдено в ТЗ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6693408" cy="822960"/>
          </a:xfrm>
          <a:prstGeom prst="roundRect">
            <a:avLst>
              <a:gd name="adj" fmla="val 7778"/>
            </a:avLst>
          </a:prstGeom>
          <a:solidFill>
            <a:srgbClr val="EEF2F7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904488"/>
            <a:ext cx="384048" cy="384048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803904"/>
            <a:ext cx="5687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LLM-ревью по рубрике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114800"/>
            <a:ext cx="5687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категории, включая 4 по официальным критериям МТС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36008"/>
            <a:ext cx="6693408" cy="822960"/>
          </a:xfrm>
          <a:prstGeom prst="roundRect">
            <a:avLst>
              <a:gd name="adj" fmla="val 7778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855464"/>
            <a:ext cx="384048" cy="384048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855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754880"/>
            <a:ext cx="5687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Эвристики (без LLM)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065776"/>
            <a:ext cx="5687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заглушки, «и т.д.», поле без типа/NOT NULL, Kafka без кластера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586984"/>
            <a:ext cx="6693408" cy="822960"/>
          </a:xfrm>
          <a:prstGeom prst="roundRect">
            <a:avLst>
              <a:gd name="adj" fmla="val 7778"/>
            </a:avLst>
          </a:prstGeom>
          <a:solidFill>
            <a:srgbClr val="EEF2F7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806440"/>
            <a:ext cx="384048" cy="384048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5806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705856"/>
            <a:ext cx="5687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Структурированный отчёт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6016752"/>
            <a:ext cx="5687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замечания, критичность, вопросы аналитику, покрытие шаблона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516368" y="1783080"/>
            <a:ext cx="4142232" cy="4690872"/>
          </a:xfrm>
          <a:prstGeom prst="roundRect">
            <a:avLst>
              <a:gd name="adj" fmla="val 1766"/>
            </a:avLst>
          </a:prstGeom>
          <a:solidFill>
            <a:srgbClr val="13223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90688" y="2011680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ОФИЦИАЛЬНЫЕ КРИТЕРИИ МТС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790688" y="2395728"/>
            <a:ext cx="35935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спецификация сериализации входа/выхода;</a:t>
            </a:r>
            <a:endParaRPr lang="en-US" sz="1150" dirty="0"/>
          </a:p>
          <a:p>
            <a:pPr marL="152400" indent="-1524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прямая ссылка на Data Catalog;</a:t>
            </a:r>
            <a:endParaRPr lang="en-US" sz="1150" dirty="0"/>
          </a:p>
          <a:p>
            <a:pPr marL="152400" indent="-1524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/ NULLABLE по каждому полю;</a:t>
            </a:r>
            <a:endParaRPr lang="en-US" sz="1150" dirty="0"/>
          </a:p>
          <a:p>
            <a:pPr marL="152400" indent="-1524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Kafka-кластер и полный путь в HDFS;</a:t>
            </a:r>
            <a:endParaRPr lang="en-US" sz="1150" dirty="0"/>
          </a:p>
          <a:p>
            <a:pPr marL="152400" indent="-1524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перечень используемых справочников (НСИ).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90688" y="4617720"/>
            <a:ext cx="3593592" cy="0"/>
          </a:xfrm>
          <a:prstGeom prst="line">
            <a:avLst/>
          </a:prstGeom>
          <a:noFill/>
          <a:ln w="12700">
            <a:solidFill>
              <a:srgbClr val="3E5C7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90688" y="4791456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ПРОВАЙДЕР-НЕЗАВИСИМОСТЬ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790688" y="5084064"/>
            <a:ext cx="3593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· любой OpenAI-совместимый (OpenAI, Gemini, OpenRouter, локальные модели) · офлайн-режим. Проверено вживую на 2 провайдерах.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НА РЕАЛЬНЫХ ДАННЫХ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документа кейсодателя, 2 режима анализа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685386" cy="96012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22376" y="1892808"/>
            <a:ext cx="42464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геолокации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22376" y="2203704"/>
            <a:ext cx="42464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реального времени, 2 источника, 5 целевых таблиц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880360"/>
            <a:ext cx="4685386" cy="96012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2376" y="2990088"/>
            <a:ext cx="42464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CDR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22376" y="3300984"/>
            <a:ext cx="42464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prepaid-звонки/SMS, фильтрация и коррекция часового пояса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4685386" cy="960120"/>
          </a:xfrm>
          <a:prstGeom prst="roundRect">
            <a:avLst>
              <a:gd name="adj" fmla="val 6667"/>
            </a:avLst>
          </a:prstGeom>
          <a:solidFill>
            <a:srgbClr val="EEF2F7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2376" y="4087368"/>
            <a:ext cx="42464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Витрина-агрегат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22376" y="4398264"/>
            <a:ext cx="42464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ежемесячная сводка по устройствам — образец финального теста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5120640"/>
            <a:ext cx="4685386" cy="1600200"/>
          </a:xfrm>
          <a:prstGeom prst="roundRect">
            <a:avLst>
              <a:gd name="adj" fmla="val 4571"/>
            </a:avLst>
          </a:prstGeom>
          <a:solidFill>
            <a:srgbClr val="1322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0664" y="5312664"/>
            <a:ext cx="4209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РЕЖИМА, ОБА БЕЗ СБОЕВ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" y="5623560"/>
            <a:ext cx="42098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 (эвристики + покрытие шаблона) и живая LLM — Google Gemini 2.5 Flash через OpenAI-совместимый эндпоинт, без единой правки кода.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53482" y="1728216"/>
            <a:ext cx="2354164" cy="4224528"/>
          </a:xfrm>
          <a:prstGeom prst="roundRect">
            <a:avLst>
              <a:gd name="adj" fmla="val 2331"/>
            </a:avLst>
          </a:prstGeom>
          <a:solidFill>
            <a:srgbClr val="13223B"/>
          </a:solidFill>
          <a:ln/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pic>
        <p:nvPicPr>
          <p:cNvPr id="17" name="Image 0" descr="C:\Masaüstü\tz-reviewer\presentation\assets\real-out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8346" y="1783080"/>
            <a:ext cx="2244436" cy="41148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508346" y="60441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вывод: офлайн-режим, поток геолокации (настоящий документ кейсодателя).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НАХОДКИ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Реальное противоречие в документе кейсодателя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1155680" cy="1554480"/>
          </a:xfrm>
          <a:prstGeom prst="roundRect">
            <a:avLst>
              <a:gd name="adj" fmla="val 4706"/>
            </a:avLst>
          </a:prstGeom>
          <a:solidFill>
            <a:srgbClr val="1E3252"/>
          </a:solidFill>
          <a:ln w="12700">
            <a:solidFill>
              <a:srgbClr val="3E5C7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8366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«Модуль потоковой геолокации абонентов»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1284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«Продуктовые метрики»: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FF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«Задержка: &lt; 1 мин»</a:t>
            </a:r>
            <a:endParaRPr lang="en-US" sz="135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«Нефункциональные требования»: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FF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«Стриминг в реальном времени (задержка ≈ 0 сек)»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971800" y="3520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Противоречия и неоднозначные формулировки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0050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КРИТИЧНОСТЬ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40050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4897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НЕЯСНО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448970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раздела одного документа дают разные требования к задержке потока.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9743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ВАЖНО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497433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Неоднозначность в целевом SLA может привести к неверному выбору архитектурных решений.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5458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АНАЛИТИКУ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54589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Какое точное требование к задержке потока данных?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080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Найдено автоматически, LLM-режим (Google Gemini). Найти такое при беглом чтении объёмного ТЗ — легко упустить; на разработке — уже поздно.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ПОКАЗАЛО ТЕСТИРОВАНИЕ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Реальные данные вскрыли реальные баги — все исправлены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22376" y="1929384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Дублирующиеся находки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22376" y="2295144"/>
            <a:ext cx="495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Найдено:  LLM и офлайн-правило независимо находили один и тот же пробел (Kafka/HDFS/Data Catalog) — попадали в отчёт дважды.</a:t>
            </a:r>
            <a:endParaRPr lang="en-US" sz="1080" dirty="0"/>
          </a:p>
        </p:txBody>
      </p:sp>
      <p:sp>
        <p:nvSpPr>
          <p:cNvPr id="7" name="Text 5"/>
          <p:cNvSpPr txBox="1"/>
          <p:nvPr/>
        </p:nvSpPr>
        <p:spPr>
          <a:xfrm>
            <a:off x="722376" y="3063240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Исправлено:  Дедупликация по теме находки, а не только по точной цитате.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83096" y="1929384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Нераспознанные типы данных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2295144"/>
            <a:ext cx="495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Найдено:  Поля типа string/long/tinyint ложно помечались как «тип не указан».</a:t>
            </a:r>
            <a:endParaRPr lang="en-US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6483096" y="3063240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Исправлено:  Список распознаваемых типов расширен по реальным данным.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02920" y="39319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22376" y="4078224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Спам одинаковой находкой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22376" y="4443984"/>
            <a:ext cx="495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Найдено:  «Нет NOT NULL» повторялось до 20 раз — по одной находке на строку таблицы.</a:t>
            </a:r>
            <a:endParaRPr lang="en-US" sz="1080" dirty="0"/>
          </a:p>
        </p:txBody>
      </p:sp>
      <p:sp>
        <p:nvSpPr>
          <p:cNvPr id="15" name="Text 13"/>
          <p:cNvSpPr txBox="1"/>
          <p:nvPr/>
        </p:nvSpPr>
        <p:spPr>
          <a:xfrm>
            <a:off x="722376" y="5212080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Исправлено:  Одна сводная находка на таблицу вместо N одинаковых.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263640" y="39319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83096" y="4078224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Ложные срабатывания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83096" y="4443984"/>
            <a:ext cx="495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Найдено:  Заголовок таблицы принимался за «поле без типа»; КАПС-слово — за аббревиатуру.</a:t>
            </a:r>
            <a:endParaRPr lang="en-US" sz="1080" dirty="0"/>
          </a:p>
        </p:txBody>
      </p:sp>
      <p:sp>
        <p:nvSpPr>
          <p:cNvPr id="19" name="Text 17"/>
          <p:cNvSpPr txBox="1"/>
          <p:nvPr/>
        </p:nvSpPr>
        <p:spPr>
          <a:xfrm>
            <a:off x="6483096" y="5212080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Исправлено:  Распознавание заголовков таблиц; аббревиатура — только при повторе в тексте.</a:t>
            </a:r>
            <a:endParaRPr lang="en-US" sz="108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на реальных документах — не формальность: все 4 проблемы отсутствовали на синтетических примерах и проявились только на реальных данных кейсодателя.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И РИСКИ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подтвердилось, что осталось риском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7373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ПОДТВЕРДИЛОСЬ НА ТЕСТАХ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10312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замечания привязаны к цитате — на всех 3 реальных ТЗ;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провайдер-независимость — переключение на Gemini без правок кода;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 содержательные противоречия, не только механику;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офлайн-режим даёт полезный результат без LLM.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9319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ПРОВЕРЕНО КАЧЕСТВЕННО, НЕ В ЦИФРАХ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29768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замечаний оценено вручную (эксперт прочитал все отчёты) — не переведено в precision/recall, для этого нужна разметка эталонных находок;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пост-проверки, что цитата дословно есть в тексте (пока — визуальная сверка);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построен на обобщённом опыте, не на реальных правках NET — их ещё предстоит получить.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1737360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EEF2F7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195681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3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РИСКИ AI-РЕШЕНИЯ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3957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Ложные/дублирующиеся находки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68833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критичность и сортировка; дедупликация по теме (проверено и исправлено на реальных данных)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3355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выносит вердикт о готовности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6484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числовая оценка убрана из вывода; отчёт показывает только факты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43159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 от одного провайдера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46085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провайдер-независимый клиент; офлайн-режим как страховка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52760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Закрытый контур / чувствительные данные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556869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локальные эндпоинты и офлайн-режим поддержаны архитектурно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 И ПЛАНЫ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дальше — по пути к пилоту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14884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ТЗ подаётся как связный текст (Word/Markdown), не скан;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 шаблона — по ключевым словам заголовков, возможны ложные срабатывания на нестандартных формулировках;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обученного эталонного датасета для точных числовых метрик качества.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35508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 К ПИЛОТУ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2176272"/>
            <a:ext cx="292608" cy="292608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5508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21488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реальные корректировки NET → обновить базу паттернов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2688336"/>
            <a:ext cx="292608" cy="292608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266090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Пост-проверка цитат + подсветка фрагмента в тексте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3200400"/>
            <a:ext cx="292608" cy="292608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5080" y="3200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31729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Измерить прокси-метрики на размеченной выборке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3712464"/>
            <a:ext cx="292608" cy="292608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3712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368503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API-сервис вокруг ядра для встраивания в процесс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4224528"/>
            <a:ext cx="292608" cy="292608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4224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419709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D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Слепой пилот с 2–3 аналитиками NET на 1–2 спринтах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892040"/>
            <a:ext cx="11155680" cy="1143000"/>
          </a:xfrm>
          <a:prstGeom prst="roundRect">
            <a:avLst>
              <a:gd name="adj" fmla="val 6400"/>
            </a:avLst>
          </a:prstGeom>
          <a:solidFill>
            <a:srgbClr val="1E325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05663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ХАКАТОНА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19379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подтвердилась на реальных данных: инструмент находит содержательные, а не только механические проблемы, и делает это одинаково надёжно на разных LLM-провайдерах.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Команда 6 — распределение задач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7510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Кайаал Яхья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591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· участие 50%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рубрика ревью (23 категории) и промпты, включая интеграцию официальных критериев МТС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структурированный вывод и сборка отчёта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на 3 реальных документах в офлайн- и LLM-режиме, диагностика и исправление найденных багов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проектная документация и презентация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F4F7FB"/>
          </a:solidFill>
          <a:ln w="12700">
            <a:solidFill>
              <a:srgbClr val="D4DCE6"/>
            </a:solidFill>
            <a:prstDash val="solid"/>
          </a:ln>
          <a:effectLst>
            <a:outerShdw sx="100000" sy="100000" kx="0" ky="0" algn="bl" rotWithShape="0" blurRad="114300" dist="38100" dir="5400000">
              <a:srgbClr val="AAB4C0">
                <a:alpha val="3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197510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Караташоглу Фырат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3591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· участие 50%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78892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решения и сборка MVP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документа, первая версия эвристик и проверки шаблона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провайдер-независимый клиент LLM</a:t>
            </a:r>
            <a:endParaRPr lang="en-US" sz="120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E3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независимое развёртывание и полный прогон проекта с нуля на отдельной машине (проверка воспроизводимости)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66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Архитектурные решения и оценка качества — совместно, компоненты интегрированы в общий пайплайн.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MTS Hackathon — AI-инструмент для анализа документации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Команда 6</dc:creator>
  <cp:lastModifiedBy>Команда 6</cp:lastModifiedBy>
  <cp:revision>1</cp:revision>
  <dcterms:created xsi:type="dcterms:W3CDTF">2026-09-05T12:21:24Z</dcterms:created>
  <dcterms:modified xsi:type="dcterms:W3CDTF">2026-09-05T12:21:24Z</dcterms:modified>
</cp:coreProperties>
</file>