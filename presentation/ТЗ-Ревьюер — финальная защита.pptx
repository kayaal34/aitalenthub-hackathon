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Финальная защита. С промежуточного этапа: интегрированы официальные критерии кейсодателя, решение протестировано на 3 реальных документах в офлайн- и LLM-режиме, найденные баги исправлены.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Точной цифры в кейсе нет — показываем структуру издержек. Инструмент бьёт по первому множителю.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Один основной пользователь — аналитик. Сценарий короткий, один экран, полностью реализован.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Требования кейса. Главное отличие от «просто спросить LLM» — предметность и обязательная привязка к тексту, проверено не только в теории.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Эти 8 официальных критериев прислали организаторы отдельным файлом уже после старта работы — интегрированы в рубрику как приоритетные категории.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Скриншот — настоящий HTML-отчёт инструмента (cli.py --format html), не макет. Показан офлайн-режим на реальном документе кейсодателя. LLM-режим на этих же документах нашёл более глубокие содержательные проблемы — см. следующий слайд.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Живой пример из реального документа кейсодателя, не придуманный. Показывает, что инструмент ловит содержательные, а не только механические проблемы.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Показывает зрелость инженерного процесса жюри: не просто «прогнали и вроде работает», а нашли и закрыли конкретные дефекты по итогам реальных прогонов.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Раньше эти риски были умозрительными; теперь у большинства пунктов есть подтверждение или опровержение по итогам прогонов на реальных данных.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Ограничения — честно, без приукрашивания. План — конкретный, с приоритетом на реальные данные NET как главный недостающий кусок.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Оба Fırat и Yahya — AI Engineer, 50/50. Роли разделены по факту выполненной работы, а не формально.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1280160"/>
            <a:ext cx="1051560" cy="1051560"/>
          </a:xfrm>
          <a:prstGeom prst="roundRect">
            <a:avLst>
              <a:gd name="adj" fmla="val 12174"/>
            </a:avLst>
          </a:prstGeom>
          <a:solidFill>
            <a:srgbClr val="E5534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128016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ТЗ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60604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ТЗ-Ревьюер</a:t>
            </a:r>
            <a:endParaRPr lang="en-US" sz="5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3584448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C6D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AI-инструмент для предварительного ревью технических заданий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C6D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разработку новых потоков и витрин данных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02920" y="4754880"/>
            <a:ext cx="4754880" cy="0"/>
          </a:xfrm>
          <a:prstGeom prst="line">
            <a:avLst/>
          </a:prstGeom>
          <a:noFill/>
          <a:ln w="19050">
            <a:solidFill>
              <a:srgbClr val="3E5C7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4937760"/>
            <a:ext cx="11155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 МТС · продукт NET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 6 · финальная защита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Проверено на реальных документах кейсодателя, вживую с LLM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Engineer: Кайаал Яхья · Караташоглу Фырат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ПРОБЛЕМАТИКА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Часть проблем в ТЗ находится уже на разработке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45920"/>
            <a:ext cx="3535680" cy="1783080"/>
          </a:xfrm>
          <a:prstGeom prst="roundRect">
            <a:avLst>
              <a:gd name="adj" fmla="val 4103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04088" y="1810512"/>
            <a:ext cx="3133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Объём ручной вычитки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04088" y="2212848"/>
            <a:ext cx="31333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Аналитики и разработчики вручную вычитывают объёмные ТЗ перед постановкой задачи.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12920" y="1645920"/>
            <a:ext cx="3535680" cy="1783080"/>
          </a:xfrm>
          <a:prstGeom prst="roundRect">
            <a:avLst>
              <a:gd name="adj" fmla="val 4103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14088" y="1810512"/>
            <a:ext cx="3133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Неоднозначность и пробелы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14088" y="2212848"/>
            <a:ext cx="31333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Расплывчатые формулировки и недостающие требования не всегда видны при чтении.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22920" y="1645920"/>
            <a:ext cx="3535680" cy="1783080"/>
          </a:xfrm>
          <a:prstGeom prst="roundRect">
            <a:avLst>
              <a:gd name="adj" fmla="val 4103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24088" y="1810512"/>
            <a:ext cx="3133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единого ревью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324088" y="2212848"/>
            <a:ext cx="31333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зависит от опыта и загрузки конкретного человека.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37033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Когда проблема всплывает поздно — запускается цикл повторной работы: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" y="4114800"/>
            <a:ext cx="3352800" cy="868680"/>
          </a:xfrm>
          <a:prstGeom prst="roundRect">
            <a:avLst>
              <a:gd name="adj" fmla="val 8421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4114800"/>
            <a:ext cx="307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 правит ТЗ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910584" y="4114800"/>
            <a:ext cx="438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404360" y="4114800"/>
            <a:ext cx="3352800" cy="868680"/>
          </a:xfrm>
          <a:prstGeom prst="roundRect">
            <a:avLst>
              <a:gd name="adj" fmla="val 8421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41520" y="4114800"/>
            <a:ext cx="307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Разработчик переделывает реализацию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812024" y="4114800"/>
            <a:ext cx="438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8305800" y="4114800"/>
            <a:ext cx="3352800" cy="868680"/>
          </a:xfrm>
          <a:prstGeom prst="roundRect">
            <a:avLst>
              <a:gd name="adj" fmla="val 8421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42960" y="4114800"/>
            <a:ext cx="307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Тестировщик перепроверяет сценарии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530352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13223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77240" y="53035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Цена проблемы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число поздних уточнений на одно ТЗ  ×  трудоёмкость цикла уточнения  ×  число ТЗ в квартал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ПОЛЬЗОВАТЕЛЬ И СЦЕНАРИЙ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Второе мнение по ТЗ до передачи в разработку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408176"/>
            <a:ext cx="11155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Основной пользователь — аналитик NET. Дополнительное ревью, не замена аналитика и не вердикт о готовности.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2011680" cy="2194560"/>
          </a:xfrm>
          <a:prstGeom prst="roundRect">
            <a:avLst>
              <a:gd name="adj" fmla="val 3636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252728" y="2139696"/>
            <a:ext cx="512064" cy="512064"/>
          </a:xfrm>
          <a:prstGeom prst="ellipse">
            <a:avLst/>
          </a:prstGeom>
          <a:solidFill>
            <a:srgbClr val="13223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252728" y="2139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12648" y="276148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Готовит ТЗ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12648" y="3310128"/>
            <a:ext cx="1792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/ Markdown / текст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532888" y="1965960"/>
            <a:ext cx="25603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788920" y="1965960"/>
            <a:ext cx="2011680" cy="2194560"/>
          </a:xfrm>
          <a:prstGeom prst="roundRect">
            <a:avLst>
              <a:gd name="adj" fmla="val 3636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538728" y="2139696"/>
            <a:ext cx="512064" cy="512064"/>
          </a:xfrm>
          <a:prstGeom prst="ellipse">
            <a:avLst/>
          </a:prstGeom>
          <a:solidFill>
            <a:srgbClr val="13223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538728" y="2139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898648" y="276148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Загружает ТЗ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898648" y="3310128"/>
            <a:ext cx="1792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запускает проверку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18888" y="1965960"/>
            <a:ext cx="25603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5074920" y="1965960"/>
            <a:ext cx="2011680" cy="2194560"/>
          </a:xfrm>
          <a:prstGeom prst="roundRect">
            <a:avLst>
              <a:gd name="adj" fmla="val 3636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824728" y="2139696"/>
            <a:ext cx="512064" cy="512064"/>
          </a:xfrm>
          <a:prstGeom prst="ellipse">
            <a:avLst/>
          </a:prstGeom>
          <a:solidFill>
            <a:srgbClr val="13223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824728" y="2139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184648" y="276148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Получает замечания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184648" y="3310128"/>
            <a:ext cx="1792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привязкой к тексту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104888" y="1965960"/>
            <a:ext cx="25603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7360920" y="1965960"/>
            <a:ext cx="2011680" cy="2194560"/>
          </a:xfrm>
          <a:prstGeom prst="roundRect">
            <a:avLst>
              <a:gd name="adj" fmla="val 3636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110728" y="2139696"/>
            <a:ext cx="512064" cy="512064"/>
          </a:xfrm>
          <a:prstGeom prst="ellipse">
            <a:avLst/>
          </a:prstGeom>
          <a:solidFill>
            <a:srgbClr val="13223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110728" y="2139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470648" y="276148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Отбирает значимые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470648" y="3310128"/>
            <a:ext cx="1792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решает, что править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390888" y="1965960"/>
            <a:ext cx="25603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9646920" y="1965960"/>
            <a:ext cx="2011680" cy="2194560"/>
          </a:xfrm>
          <a:prstGeom prst="roundRect">
            <a:avLst>
              <a:gd name="adj" fmla="val 3636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0396728" y="2139696"/>
            <a:ext cx="512064" cy="512064"/>
          </a:xfrm>
          <a:prstGeom prst="ellipse">
            <a:avLst/>
          </a:prstGeom>
          <a:solidFill>
            <a:srgbClr val="13223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0396728" y="2139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756648" y="276148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Дорабатывает ТЗ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756648" y="3310128"/>
            <a:ext cx="1792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отдаёт в разработку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02920" y="4617720"/>
            <a:ext cx="1115568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77240" y="47914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Проверено не только на синтетике, но и на реальных ТЗ кейсодателя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777240" y="5138928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весь сценарий прогнан на 3 реальных документах МТС в офлайн- и LLM-режиме;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вторичные пользователи: разработчик и тимлид — быстрый входной чек перед оценкой задачи.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ЗАДАЧИ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должно делать решение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737360"/>
            <a:ext cx="6333134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569305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lnSpc>
                <a:spcPct val="100000"/>
              </a:lnSpc>
              <a:spcAft>
                <a:spcPts val="1500"/>
              </a:spcAft>
              <a:buSzPct val="100000"/>
              <a:buChar char="•"/>
            </a:pPr>
            <a:r>
              <a:rPr lang="en-US" sz="14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находить конкретные фрагменты, непонятные разработчику;</a:t>
            </a:r>
            <a:endParaRPr lang="en-US" sz="1450" dirty="0"/>
          </a:p>
          <a:p>
            <a:pPr marL="152400" indent="-152400">
              <a:lnSpc>
                <a:spcPct val="100000"/>
              </a:lnSpc>
              <a:spcAft>
                <a:spcPts val="1500"/>
              </a:spcAft>
              <a:buSzPct val="100000"/>
              <a:buChar char="•"/>
            </a:pPr>
            <a:r>
              <a:rPr lang="en-US" sz="14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определять недостающую и неоднозначную информацию;</a:t>
            </a:r>
            <a:endParaRPr lang="en-US" sz="1450" dirty="0"/>
          </a:p>
          <a:p>
            <a:pPr marL="152400" indent="-152400">
              <a:lnSpc>
                <a:spcPct val="100000"/>
              </a:lnSpc>
              <a:spcAft>
                <a:spcPts val="1500"/>
              </a:spcAft>
              <a:buSzPct val="100000"/>
              <a:buChar char="•"/>
            </a:pPr>
            <a:r>
              <a:rPr lang="en-US" sz="14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объяснять, почему фрагмент требует внимания;</a:t>
            </a:r>
            <a:endParaRPr lang="en-US" sz="1450" dirty="0"/>
          </a:p>
          <a:p>
            <a:pPr marL="152400" indent="-152400">
              <a:lnSpc>
                <a:spcPct val="100000"/>
              </a:lnSpc>
              <a:spcAft>
                <a:spcPts val="1500"/>
              </a:spcAft>
              <a:buSzPct val="100000"/>
              <a:buChar char="•"/>
            </a:pPr>
            <a:r>
              <a:rPr lang="en-US" sz="14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предлагать, что уточнить или дополнить;</a:t>
            </a:r>
            <a:endParaRPr lang="en-US" sz="1450" dirty="0"/>
          </a:p>
          <a:p>
            <a:pPr marL="152400" indent="-152400">
              <a:lnSpc>
                <a:spcPct val="100000"/>
              </a:lnSpc>
              <a:spcAft>
                <a:spcPts val="1500"/>
              </a:spcAft>
              <a:buSzPct val="100000"/>
              <a:buChar char="•"/>
            </a:pPr>
            <a:r>
              <a:rPr lang="en-US" sz="14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показывать, к какому разделу ТЗ относится замечание;</a:t>
            </a:r>
            <a:endParaRPr lang="en-US" sz="1450" dirty="0"/>
          </a:p>
          <a:p>
            <a:pPr marL="152400" indent="-152400">
              <a:lnSpc>
                <a:spcPct val="100000"/>
              </a:lnSpc>
              <a:spcAft>
                <a:spcPts val="1500"/>
              </a:spcAft>
              <a:buSzPct val="100000"/>
              <a:buChar char="•"/>
            </a:pPr>
            <a:r>
              <a:rPr lang="en-US" sz="14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формировать общий результат проверки документа.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018934" y="1737360"/>
            <a:ext cx="4639666" cy="4114800"/>
          </a:xfrm>
          <a:prstGeom prst="roundRect">
            <a:avLst>
              <a:gd name="adj" fmla="val 1778"/>
            </a:avLst>
          </a:prstGeom>
          <a:solidFill>
            <a:srgbClr val="13223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1542" y="2057400"/>
            <a:ext cx="40544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КЛЮЧЕВОЙ ПРИНЦИП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311542" y="2468880"/>
            <a:ext cx="405445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8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Замечание привязано к конкретному фрагменту ТЗ, а не является общим советом.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7311542" y="4160520"/>
            <a:ext cx="405445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6D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Подтверждено на практике: на реальных документах кейсодателя абсолютное большинство замечаний LLM-режима содержали дословную цитату.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ТЕХНИЧЕСКОЕ РЕШЕНИЕ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Пайплайн предварительного ревью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6693408" cy="822960"/>
          </a:xfrm>
          <a:prstGeom prst="roundRect">
            <a:avLst>
              <a:gd name="adj" fmla="val 7778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002536"/>
            <a:ext cx="384048" cy="384048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002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901952"/>
            <a:ext cx="5687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 документа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212848"/>
            <a:ext cx="5687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.md / .txt / .docx с таблицами → разбивка на разделы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734056"/>
            <a:ext cx="6693408" cy="822960"/>
          </a:xfrm>
          <a:prstGeom prst="roundRect">
            <a:avLst>
              <a:gd name="adj" fmla="val 7778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2953512"/>
            <a:ext cx="384048" cy="384048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2953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2852928"/>
            <a:ext cx="5687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Покрытие шаблона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163824"/>
            <a:ext cx="5687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официальный шаблон МТС, 21 раздел — что не найдено в ТЗ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685032"/>
            <a:ext cx="6693408" cy="822960"/>
          </a:xfrm>
          <a:prstGeom prst="roundRect">
            <a:avLst>
              <a:gd name="adj" fmla="val 7778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904488"/>
            <a:ext cx="384048" cy="384048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" y="3904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3803904"/>
            <a:ext cx="5687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LLM-ревью по рубрике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114800"/>
            <a:ext cx="5687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категории, включая 4 по официальным критериям МТС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636008"/>
            <a:ext cx="6693408" cy="822960"/>
          </a:xfrm>
          <a:prstGeom prst="roundRect">
            <a:avLst>
              <a:gd name="adj" fmla="val 7778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4855464"/>
            <a:ext cx="384048" cy="384048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" y="4855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4754880"/>
            <a:ext cx="5687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Эвристики (без LLM)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5065776"/>
            <a:ext cx="5687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заглушки, «и т.д.», поле без типа/NOT NULL, Kafka без кластера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5586984"/>
            <a:ext cx="6693408" cy="822960"/>
          </a:xfrm>
          <a:prstGeom prst="roundRect">
            <a:avLst>
              <a:gd name="adj" fmla="val 7778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5806440"/>
            <a:ext cx="384048" cy="384048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" y="5806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80160" y="5705856"/>
            <a:ext cx="5687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Структурированный отчёт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1280160" y="6016752"/>
            <a:ext cx="5687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замечания, критичность, вопросы аналитику, покрытие шаблона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516368" y="1783080"/>
            <a:ext cx="4142232" cy="4690872"/>
          </a:xfrm>
          <a:prstGeom prst="roundRect">
            <a:avLst>
              <a:gd name="adj" fmla="val 1766"/>
            </a:avLst>
          </a:prstGeom>
          <a:solidFill>
            <a:srgbClr val="13223B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790688" y="2011680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ОФИЦИАЛЬНЫЕ КРИТЕРИИ МТС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7790688" y="2395728"/>
            <a:ext cx="35935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lnSpc>
                <a:spcPct val="106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спецификация сериализации входа/выхода;</a:t>
            </a:r>
            <a:endParaRPr lang="en-US" sz="1150" dirty="0"/>
          </a:p>
          <a:p>
            <a:pPr marL="152400" indent="-152400">
              <a:lnSpc>
                <a:spcPct val="106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прямая ссылка на Data Catalog;</a:t>
            </a:r>
            <a:endParaRPr lang="en-US" sz="1150" dirty="0"/>
          </a:p>
          <a:p>
            <a:pPr marL="152400" indent="-152400">
              <a:lnSpc>
                <a:spcPct val="106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NULL / NULLABLE по каждому полю;</a:t>
            </a:r>
            <a:endParaRPr lang="en-US" sz="1150" dirty="0"/>
          </a:p>
          <a:p>
            <a:pPr marL="152400" indent="-152400">
              <a:lnSpc>
                <a:spcPct val="106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Kafka-кластер и полный путь в HDFS;</a:t>
            </a:r>
            <a:endParaRPr lang="en-US" sz="1150" dirty="0"/>
          </a:p>
          <a:p>
            <a:pPr marL="152400" indent="-152400">
              <a:lnSpc>
                <a:spcPct val="106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перечень используемых справочников (НСИ).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90688" y="4617720"/>
            <a:ext cx="3593592" cy="0"/>
          </a:xfrm>
          <a:prstGeom prst="line">
            <a:avLst/>
          </a:prstGeom>
          <a:noFill/>
          <a:ln w="12700">
            <a:solidFill>
              <a:srgbClr val="3E5C7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90688" y="4791456"/>
            <a:ext cx="3593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ПРОВАЙДЕР-НЕЗАВИСИМОСТЬ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7790688" y="5084064"/>
            <a:ext cx="35935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· любой OpenAI-совместимый (OpenAI, Gemini, OpenRouter, локальные модели) · офлайн-режим. Проверено вживую на 2 провайдерах.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НА РЕАЛЬНЫХ ДАННЫХ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документа кейсодателя, 2 режима анализа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3572256" cy="658368"/>
          </a:xfrm>
          <a:prstGeom prst="roundRect">
            <a:avLst>
              <a:gd name="adj" fmla="val 9722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67512" y="1572768"/>
            <a:ext cx="32430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Поток геолокации 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модуль реального времени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294632" y="1572768"/>
            <a:ext cx="3572256" cy="658368"/>
          </a:xfrm>
          <a:prstGeom prst="roundRect">
            <a:avLst>
              <a:gd name="adj" fmla="val 9722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59224" y="1572768"/>
            <a:ext cx="32430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Поток CDR 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prepaid-звонки и SMS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086344" y="1572768"/>
            <a:ext cx="3572256" cy="658368"/>
          </a:xfrm>
          <a:prstGeom prst="roundRect">
            <a:avLst>
              <a:gd name="adj" fmla="val 9722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50936" y="1572768"/>
            <a:ext cx="32430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Витрина-агрегат 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образец финального теста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2340864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режима — офлайн (эвристики + покрытие шаблона) и живая LLM (Google Gemini 2.5 Flash), оба без сбоев. Ниже — настоящий вывод инструмента (офлайн-режим).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503474" y="2825496"/>
            <a:ext cx="7154571" cy="3721608"/>
          </a:xfrm>
          <a:prstGeom prst="roundRect">
            <a:avLst>
              <a:gd name="adj" fmla="val 1474"/>
            </a:avLst>
          </a:prstGeom>
          <a:solidFill>
            <a:srgbClr val="FFFFFF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pic>
        <p:nvPicPr>
          <p:cNvPr id="12" name="Image 0" descr="C:\Masaüstü\tz-reviewer\presentation\assets\real-out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58338" y="2880360"/>
            <a:ext cx="7044843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 НАХОДКИ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Реальное противоречие в документе кейсодателя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737360"/>
            <a:ext cx="11155680" cy="1554480"/>
          </a:xfrm>
          <a:prstGeom prst="roundRect">
            <a:avLst>
              <a:gd name="adj" fmla="val 4706"/>
            </a:avLst>
          </a:prstGeom>
          <a:solidFill>
            <a:srgbClr val="1E3252"/>
          </a:solidFill>
          <a:ln w="12700">
            <a:solidFill>
              <a:srgbClr val="3E5C7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88366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«Модуль потоковой геолокации абонентов»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12848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«Продуктовые метрики»:  </a:t>
            </a:r>
            <a:pPr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350" i="1" dirty="0">
                <a:solidFill>
                  <a:srgbClr val="FF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«Задержка: &lt; 1 мин»</a:t>
            </a:r>
            <a:endParaRPr lang="en-US" sz="1350" dirty="0"/>
          </a:p>
          <a:p>
            <a:pPr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«Нефункциональные требования»:  </a:t>
            </a:r>
            <a:pPr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350" i="1" dirty="0">
                <a:solidFill>
                  <a:srgbClr val="FF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«Стриминг в реальном времени (задержка ≈ 0 сек)»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520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КАТЕГОРИЯ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2971800" y="35204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Противоречия и неоднозначные формулировки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400507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КРИТИЧНОСТЬ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971800" y="400507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blocker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448970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НЕЯСНО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2971800" y="4489704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раздела одного документа дают разные требования к задержке потока.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9743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ВАЖНО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71800" y="4974336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Неоднозначность в целевом SLA может привести к неверному выбору архитектурных решений.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54589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АНАЛИТИКУ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71800" y="5458968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Какое точное требование к задержке потока данных?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0807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Найдено автоматически, LLM-режим (Google Gemini). Найти такое при беглом чтении объёмного ТЗ — легко упустить; на разработке — уже поздно.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ПОКАЗАЛО ТЕСТИРОВАНИЕ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Реальные данные вскрыли реальные баги — все исправлены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394960" cy="1920240"/>
          </a:xfrm>
          <a:prstGeom prst="roundRect">
            <a:avLst>
              <a:gd name="adj" fmla="val 3810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22376" y="1929384"/>
            <a:ext cx="4956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Дублирующиеся находки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22376" y="2295144"/>
            <a:ext cx="49560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Найдено:  LLM и офлайн-правило независимо находили один и тот же пробел (Kafka/HDFS/Data Catalog) — попадали в отчёт дважды.</a:t>
            </a:r>
            <a:endParaRPr lang="en-US" sz="1080" dirty="0"/>
          </a:p>
        </p:txBody>
      </p:sp>
      <p:sp>
        <p:nvSpPr>
          <p:cNvPr id="7" name="Text 5"/>
          <p:cNvSpPr txBox="1"/>
          <p:nvPr/>
        </p:nvSpPr>
        <p:spPr>
          <a:xfrm>
            <a:off x="722376" y="3063240"/>
            <a:ext cx="4956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Исправлено:  Дедупликация по теме находки, а не только по точной цитате.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6263640" y="1783080"/>
            <a:ext cx="5394960" cy="1920240"/>
          </a:xfrm>
          <a:prstGeom prst="roundRect">
            <a:avLst>
              <a:gd name="adj" fmla="val 3810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83096" y="1929384"/>
            <a:ext cx="4956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Нераспознанные типы данных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83096" y="2295144"/>
            <a:ext cx="49560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Найдено:  Поля типа string/long/tinyint ложно помечались как «тип не указан».</a:t>
            </a:r>
            <a:endParaRPr lang="en-US" sz="1080" dirty="0"/>
          </a:p>
        </p:txBody>
      </p:sp>
      <p:sp>
        <p:nvSpPr>
          <p:cNvPr id="11" name="Text 9"/>
          <p:cNvSpPr txBox="1"/>
          <p:nvPr/>
        </p:nvSpPr>
        <p:spPr>
          <a:xfrm>
            <a:off x="6483096" y="3063240"/>
            <a:ext cx="4956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Исправлено:  Список распознаваемых типов расширен по реальным данным.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502920" y="3931920"/>
            <a:ext cx="5394960" cy="1920240"/>
          </a:xfrm>
          <a:prstGeom prst="roundRect">
            <a:avLst>
              <a:gd name="adj" fmla="val 3810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22376" y="4078224"/>
            <a:ext cx="4956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Спам одинаковой находкой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722376" y="4443984"/>
            <a:ext cx="49560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Найдено:  «Нет NOT NULL» повторялось до 20 раз — по одной находке на строку таблицы.</a:t>
            </a:r>
            <a:endParaRPr lang="en-US" sz="1080" dirty="0"/>
          </a:p>
        </p:txBody>
      </p:sp>
      <p:sp>
        <p:nvSpPr>
          <p:cNvPr id="15" name="Text 13"/>
          <p:cNvSpPr txBox="1"/>
          <p:nvPr/>
        </p:nvSpPr>
        <p:spPr>
          <a:xfrm>
            <a:off x="722376" y="5212080"/>
            <a:ext cx="4956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Исправлено:  Одна сводная находка на таблицу вместо N одинаковых.</a:t>
            </a:r>
            <a:endParaRPr lang="en-US" sz="1080" dirty="0"/>
          </a:p>
        </p:txBody>
      </p:sp>
      <p:sp>
        <p:nvSpPr>
          <p:cNvPr id="16" name="Shape 14"/>
          <p:cNvSpPr/>
          <p:nvPr/>
        </p:nvSpPr>
        <p:spPr>
          <a:xfrm>
            <a:off x="6263640" y="3931920"/>
            <a:ext cx="5394960" cy="1920240"/>
          </a:xfrm>
          <a:prstGeom prst="roundRect">
            <a:avLst>
              <a:gd name="adj" fmla="val 3810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83096" y="4078224"/>
            <a:ext cx="4956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Ложные срабатывания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483096" y="4443984"/>
            <a:ext cx="49560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Найдено:  Заголовок таблицы принимался за «поле без типа»; КАПС-слово — за аббревиатуру.</a:t>
            </a:r>
            <a:endParaRPr lang="en-US" sz="1080" dirty="0"/>
          </a:p>
        </p:txBody>
      </p:sp>
      <p:sp>
        <p:nvSpPr>
          <p:cNvPr id="19" name="Text 17"/>
          <p:cNvSpPr txBox="1"/>
          <p:nvPr/>
        </p:nvSpPr>
        <p:spPr>
          <a:xfrm>
            <a:off x="6483096" y="5212080"/>
            <a:ext cx="4956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Исправлено:  Распознавание заголовков таблиц; аббревиатура — только при повторе в тексте.</a:t>
            </a:r>
            <a:endParaRPr lang="en-US" sz="108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59893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i="1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Тестирование на реальных документах — не формальность: все 4 проблемы отсутствовали на синтетических примерах и проявились только на реальных данных кейсодателя.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И РИСКИ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подтвердилось, что осталось риском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73736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ПОДТВЕРДИЛОСЬ НА ТЕСТАХ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103120"/>
            <a:ext cx="5303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замечания привязаны к цитате — на всех 3 реальных ТЗ;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провайдер-независимость — переключение на Gemini без правок кода;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находит содержательные противоречия, не только механику;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офлайн-режим даёт полезный результат без LLM.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93192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ПРОВЕРЕНО КАЧЕСТВЕННО, НЕ В ЦИФРАХ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4297680"/>
            <a:ext cx="5303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замечаний оценено вручную (эксперт прочитал все отчёты) — не переведено в precision/recall, для этого нужна разметка эталонных находок;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пост-проверки, что цитата дословно есть в тексте (пока — визуальная сверка);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построен на обобщённом опыте, не на реальных правках NET — их ещё предстоит получить.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355080" y="1737360"/>
            <a:ext cx="5303520" cy="4526280"/>
          </a:xfrm>
          <a:prstGeom prst="roundRect">
            <a:avLst>
              <a:gd name="adj" fmla="val 1616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29400" y="195681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РИСКИ AI-РЕШЕНИЯ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629400" y="239572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Ложные/дублирующиеся находки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268833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критичность и сортировка; дедупликация по теме (проверено и исправлено на реальных данных)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335584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выносит вердикт о готовности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364845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числовая оценка убрана из вывода; отчёт показывает только факты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431596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Зависимость от одного провайдера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629400" y="460857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провайдер-независимый клиент; офлайн-режим как страховка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629400" y="527608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Закрытый контур / чувствительные данные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556869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локальные эндпоинты и офлайн-режим поддержаны архитектурно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2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 И ПЛАНЫ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дальше — по пути к пилоту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783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148840"/>
            <a:ext cx="5303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ТЗ подаётся как связный текст (Word/Markdown), не скан;</a:t>
            </a:r>
            <a:endParaRPr lang="en-US" sz="1250" dirty="0"/>
          </a:p>
          <a:p>
            <a:pPr marL="152400" indent="-1524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покрытие шаблона — по ключевым словам заголовков, возможны ложные срабатывания на нестандартных формулировках;</a:t>
            </a:r>
            <a:endParaRPr lang="en-US" sz="1250" dirty="0"/>
          </a:p>
          <a:p>
            <a:pPr marL="152400" indent="-1524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обученного эталонного датасета для точных числовых метрик качества.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355080" y="1783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СЛЕДУЮЩИЙ ШАГ К ПИЛОТУ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55080" y="2176272"/>
            <a:ext cx="292608" cy="292608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355080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214884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Собрать реальные корректировки NET → обновить базу паттернов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55080" y="2688336"/>
            <a:ext cx="292608" cy="292608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55080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0" y="2660904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Пост-проверка цитат + подсветка фрагмента в тексте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355080" y="3200400"/>
            <a:ext cx="292608" cy="292608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55080" y="32004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3172968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Измерить прокси-метрики на размеченной выборке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55080" y="3712464"/>
            <a:ext cx="292608" cy="292608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55080" y="37124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3685032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API-сервис вокруг ядра для встраивания в процесс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55080" y="4224528"/>
            <a:ext cx="292608" cy="292608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55080" y="4224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766560" y="4197096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Слепой пилот с 2–3 аналитиками NET на 1–2 спринтах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02920" y="4892040"/>
            <a:ext cx="11155680" cy="1143000"/>
          </a:xfrm>
          <a:prstGeom prst="roundRect">
            <a:avLst>
              <a:gd name="adj" fmla="val 6400"/>
            </a:avLst>
          </a:prstGeom>
          <a:solidFill>
            <a:srgbClr val="1E325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77240" y="505663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 ХАКАТОНА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193792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Гипотеза подтвердилась на реальных данных: инструмент находит содержательные, а не только механические проблемы, и делает это одинаково надёжно на разных LLM-провайдерах.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Команда 6 — распределение задач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394960" cy="3840480"/>
          </a:xfrm>
          <a:prstGeom prst="roundRect">
            <a:avLst>
              <a:gd name="adj" fmla="val 1905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975104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Кайаал Яхья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5915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 · участие 50%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61488"/>
            <a:ext cx="484632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рубрика ревью (23 категории) и промпты, включая интеграцию официальных критериев МТС</a:t>
            </a:r>
            <a:endParaRPr lang="en-US" sz="10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структурированный вывод и сборка отчёта</a:t>
            </a:r>
            <a:endParaRPr lang="en-US" sz="10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тестирование на 3 реальных документах в офлайн- и LLM-режиме, диагностика и исправление найденных багов</a:t>
            </a:r>
            <a:endParaRPr lang="en-US" sz="10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проектная документация и презентация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63640" y="1783080"/>
            <a:ext cx="5394960" cy="3840480"/>
          </a:xfrm>
          <a:prstGeom prst="roundRect">
            <a:avLst>
              <a:gd name="adj" fmla="val 1905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37960" y="1975104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Караташоглу Фырат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35915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 · участие 50%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2761488"/>
            <a:ext cx="484632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решения, сборка MVP, провайдер-независимый клиент LLM</a:t>
            </a:r>
            <a:endParaRPr lang="en-US" sz="10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 документа: иерархия разделов, таблицы и ссылки из .docx</a:t>
            </a:r>
            <a:endParaRPr lang="en-US" sz="10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покрытия шаблона: 5 статусов раздела (заполнен / пустой / не применимо / упомянут / нет), структурные пробелы как отдельные замечания</a:t>
            </a:r>
            <a:endParaRPr lang="en-US" sz="10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устойчивость демо (сохранение результата в Streamlit) и расширенный набор автотестов</a:t>
            </a:r>
            <a:endParaRPr lang="en-US" sz="10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независимый прогон проекта с нуля на отдельной машине + критическое ревью качества LLM-выдачи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580644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Архитектурные решения и оценка качества — совместно, компоненты интегрированы в общий пайплайн.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MTS Hackathon — AI-инструмент для анализа документации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Команда 6</dc:creator>
  <cp:lastModifiedBy>Команда 6</cp:lastModifiedBy>
  <cp:revision>1</cp:revision>
  <dcterms:created xsi:type="dcterms:W3CDTF">2026-09-06T13:50:43Z</dcterms:created>
  <dcterms:modified xsi:type="dcterms:W3CDTF">2026-09-06T13:50:43Z</dcterms:modified>
</cp:coreProperties>
</file>