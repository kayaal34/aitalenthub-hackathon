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0:00–0:30. Здравствуйте! Мы создали ТЗ-Ревьюер для аналитика продукта NET — инструмент, который находит в техническом задании места, непонятные разработчику, ещё до передачи задачи в разработку.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0:30–1:00. Сейчас техзадание вычитывают вручную. Часть неточностей всё равно доходит до разработки — и тогда документ возвращают аналитику, требования пересогласовывают, реализацию переделывают. Наш инструмент показывает эти места раньше, пока документ ещё у аналитика.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выбирается провайдер, модель, ключ и base URL — инструмент не привязан к одной модели. Справа три способа подать ТЗ: вставить текст, загрузить файл, взять пример.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1:00–3:10 — живое демо. План Б: этот и следующие слайды содержат настоящие экраны инструмента.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Ключевое доказательство: два раздела одного ТЗ требуют разной задержки. Инструмент привёл обе цитаты и задал вопрос аналитику.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Настоящий экран инструмента: список замечаний с фильтром по категории, раскрытое замечание с цитатой, объяснением и вопросом аналитику.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Кроме замечаний инструмент детерминированно проверяет 21 раздел шаблона: заполнен, пустой, помечен «не применимо», упомянут вне раздела или не найден.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3:10–4:10. Первые два слоя — обычный код, детерминированы и воспроизводимы. LLM отвечает только за смысл, и каждое его замечание обязано содержать дословную цитату, иначе отбрасывается. Провайдера меняли на живой Gemini без единой правки кода.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4:10–5:00. Финальная фраза читается дословно, 12–15 секунд.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1417320"/>
            <a:ext cx="10844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TALENT HUB  ·  КЕЙС МТС  ·  ПРОДУКТ NET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965960"/>
            <a:ext cx="10844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ТЗ-Ревьюер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246120"/>
            <a:ext cx="10844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AI-ревьюер технических заданий для аналитика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4251960"/>
            <a:ext cx="182880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4572000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937760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Кайаал Яхья</a:t>
            </a:r>
            <a:pPr indent="0" marL="0">
              <a:buNone/>
            </a:pPr>
            <a:r>
              <a:rPr lang="en-US" sz="18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AI Engineer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5394960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Караташоглу Фырат</a:t>
            </a:r>
            <a:pPr indent="0" marL="0">
              <a:buNone/>
            </a:pPr>
            <a:r>
              <a:rPr lang="en-US" sz="18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AI Engineer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44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0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Неточность в ТЗ находят уже на разработке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514600"/>
            <a:ext cx="1964131" cy="123444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514600"/>
            <a:ext cx="181782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ТЗ готово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2622499" y="2514600"/>
            <a:ext cx="256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878531" y="2514600"/>
            <a:ext cx="1964131" cy="123444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51683" y="2514600"/>
            <a:ext cx="181782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842662" y="2514600"/>
            <a:ext cx="256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98694" y="2514600"/>
            <a:ext cx="1964131" cy="1234440"/>
          </a:xfrm>
          <a:prstGeom prst="roundRect">
            <a:avLst>
              <a:gd name="adj" fmla="val 7407"/>
            </a:avLst>
          </a:prstGeom>
          <a:solidFill>
            <a:srgbClr val="FCEDEB"/>
          </a:solidFill>
          <a:ln w="19050">
            <a:solidFill>
              <a:srgbClr val="E553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71846" y="2514600"/>
            <a:ext cx="181782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Неоднозначность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062826" y="2514600"/>
            <a:ext cx="256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8858" y="2514600"/>
            <a:ext cx="1964131" cy="1234440"/>
          </a:xfrm>
          <a:prstGeom prst="roundRect">
            <a:avLst>
              <a:gd name="adj" fmla="val 7407"/>
            </a:avLst>
          </a:prstGeom>
          <a:solidFill>
            <a:srgbClr val="FCEDEB"/>
          </a:solidFill>
          <a:ln w="19050">
            <a:solidFill>
              <a:srgbClr val="E553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92010" y="2514600"/>
            <a:ext cx="181782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282989" y="2514600"/>
            <a:ext cx="256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539021" y="2514600"/>
            <a:ext cx="1964131" cy="1234440"/>
          </a:xfrm>
          <a:prstGeom prst="roundRect">
            <a:avLst>
              <a:gd name="adj" fmla="val 7407"/>
            </a:avLst>
          </a:prstGeom>
          <a:solidFill>
            <a:srgbClr val="FCEDEB"/>
          </a:solidFill>
          <a:ln w="19050">
            <a:solidFill>
              <a:srgbClr val="E553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12173" y="2514600"/>
            <a:ext cx="181782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C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Переделка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343400"/>
            <a:ext cx="10844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возврат — это пересогласование, переделка и повторное тестирование.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10954512" y="5486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44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0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экран: настройки слева, документ справа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1737360"/>
            <a:ext cx="9784080" cy="4873142"/>
          </a:xfrm>
          <a:prstGeom prst="roundRect">
            <a:avLst>
              <a:gd name="adj" fmla="val 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8FA0B5">
                <a:alpha val="28000"/>
              </a:srgbClr>
            </a:outerShdw>
          </a:effectLst>
        </p:spPr>
      </p:sp>
      <p:pic>
        <p:nvPicPr>
          <p:cNvPr id="5" name="Image 0" descr="C:\Masaüstü\tz-reviewer\presentation\assets\full-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783080"/>
            <a:ext cx="9692640" cy="47817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54512" y="5486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44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0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Загрузил ТЗ — получил замечания с цитатами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057400"/>
            <a:ext cx="2505456" cy="123444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057400"/>
            <a:ext cx="2322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загружает ТЗ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163824" y="2057400"/>
            <a:ext cx="274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438144" y="2057400"/>
            <a:ext cx="2505456" cy="123444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9584" y="2057400"/>
            <a:ext cx="2322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Нажимает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«Проверить»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057400"/>
            <a:ext cx="274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2505456" cy="123444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2057400"/>
            <a:ext cx="2322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→ шаблон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723376" y="2057400"/>
            <a:ext cx="274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997696" y="2057400"/>
            <a:ext cx="2505456" cy="1234440"/>
          </a:xfrm>
          <a:prstGeom prst="roundRect">
            <a:avLst>
              <a:gd name="adj" fmla="val 7407"/>
            </a:avLst>
          </a:prstGeom>
          <a:solidFill>
            <a:srgbClr val="E9F4EF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89136" y="2057400"/>
            <a:ext cx="2322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Замечания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цитатами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703320"/>
            <a:ext cx="10515600" cy="3083560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8FA0B5">
                <a:alpha val="28000"/>
              </a:srgbClr>
            </a:outerShdw>
          </a:effectLst>
        </p:spPr>
      </p:sp>
      <p:pic>
        <p:nvPicPr>
          <p:cNvPr id="16" name="Image 0" descr="C:\Masaüstü\tz-reviewer\presentation\assets\ui-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749040"/>
            <a:ext cx="10424160" cy="29921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954512" y="5486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НАХОДИТ · 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44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0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Противоречие внутри одного документа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4028224"/>
          </a:xfrm>
          <a:prstGeom prst="roundRect">
            <a:avLst>
              <a:gd name="adj" fmla="val 11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8FA0B5">
                <a:alpha val="28000"/>
              </a:srgbClr>
            </a:outerShdw>
          </a:effectLst>
        </p:spPr>
      </p:sp>
      <p:pic>
        <p:nvPicPr>
          <p:cNvPr id="5" name="Image 0" descr="C:\Masaüstü\tz-reviewer\presentation\assets\llm-out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10424160" cy="39367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54512" y="5486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44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0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Каждое замечание раскрывается до цитаты и вопроса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1965960"/>
            <a:ext cx="9784080" cy="4617720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8FA0B5">
                <a:alpha val="28000"/>
              </a:srgbClr>
            </a:outerShdw>
          </a:effectLst>
        </p:spPr>
      </p:sp>
      <p:pic>
        <p:nvPicPr>
          <p:cNvPr id="5" name="Image 0" descr="C:\Masaüstü\tz-reviewer\presentation\assets\ui-find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011680"/>
            <a:ext cx="9692640" cy="4526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54512" y="5486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РЕЗУЛЬТАТ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44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0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структуры по официальному шаблону МТС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5840" y="2148840"/>
            <a:ext cx="10149840" cy="3792172"/>
          </a:xfrm>
          <a:prstGeom prst="roundRect">
            <a:avLst>
              <a:gd name="adj" fmla="val 12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8FA0B5">
                <a:alpha val="28000"/>
              </a:srgbClr>
            </a:outerShdw>
          </a:effectLst>
        </p:spPr>
      </p:sp>
      <p:pic>
        <p:nvPicPr>
          <p:cNvPr id="5" name="Image 0" descr="C:\Masaüstü\tz-reviewer\presentation\assets\ui-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94560"/>
            <a:ext cx="10058400" cy="37007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54512" y="5486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44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0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слоя — и LLM только один из них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103120"/>
            <a:ext cx="3407664" cy="2148840"/>
          </a:xfrm>
          <a:prstGeom prst="roundRect">
            <a:avLst>
              <a:gd name="adj" fmla="val 4255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304288"/>
            <a:ext cx="289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9C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документа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82112"/>
            <a:ext cx="289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и Markdown →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и таблицы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76928" y="2103120"/>
            <a:ext cx="3407664" cy="2148840"/>
          </a:xfrm>
          <a:prstGeom prst="roundRect">
            <a:avLst>
              <a:gd name="adj" fmla="val 4255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2960" y="2304288"/>
            <a:ext cx="289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9C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32960" y="274320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МТС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632960" y="3182112"/>
            <a:ext cx="289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раздел шаблона +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требований кейса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95488" y="2103120"/>
            <a:ext cx="3407664" cy="2148840"/>
          </a:xfrm>
          <a:prstGeom prst="roundRect">
            <a:avLst>
              <a:gd name="adj" fmla="val 4255"/>
            </a:avLst>
          </a:prstGeom>
          <a:solidFill>
            <a:srgbClr val="FBF3E4"/>
          </a:solidFill>
          <a:ln w="19050">
            <a:solidFill>
              <a:srgbClr val="C879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51520" y="2304288"/>
            <a:ext cx="289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51520" y="274320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LLM-ревью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351520" y="3182112"/>
            <a:ext cx="289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категории,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обязательная цитата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4800600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Структуру и критерии проверяет код. Без доступа к модели инструмент продолжает работать.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0954512" y="5486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C3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44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Прототип работает — следующий шаг пилот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057400"/>
            <a:ext cx="3407664" cy="2103120"/>
          </a:xfrm>
          <a:prstGeom prst="roundRect">
            <a:avLst>
              <a:gd name="adj" fmla="val 4348"/>
            </a:avLst>
          </a:prstGeom>
          <a:solidFill>
            <a:srgbClr val="1B2E4A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67712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ИЗМЕРЕНО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97480"/>
            <a:ext cx="289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реальных ТЗ</a:t>
            </a:r>
            <a:endParaRPr lang="en-US" sz="18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замечаний с цитатой</a:t>
            </a:r>
            <a:endParaRPr lang="en-US" sz="18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автотеста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76928" y="2057400"/>
            <a:ext cx="3407664" cy="2103120"/>
          </a:xfrm>
          <a:prstGeom prst="roundRect">
            <a:avLst>
              <a:gd name="adj" fmla="val 4348"/>
            </a:avLst>
          </a:prstGeom>
          <a:solidFill>
            <a:srgbClr val="1B2E4A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32960" y="2267712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ГИПОТЕЗА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632960" y="2697480"/>
            <a:ext cx="289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</a:t>
            </a:r>
            <a:endParaRPr lang="en-US" sz="18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на уточнениях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95488" y="2057400"/>
            <a:ext cx="3407664" cy="2103120"/>
          </a:xfrm>
          <a:prstGeom prst="roundRect">
            <a:avLst>
              <a:gd name="adj" fmla="val 4348"/>
            </a:avLst>
          </a:prstGeom>
          <a:solidFill>
            <a:srgbClr val="1B2E4A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1520" y="2267712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351520" y="2697480"/>
            <a:ext cx="289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правки от NET</a:t>
            </a:r>
            <a:endParaRPr lang="en-US" sz="18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с аналитиками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8368" y="4572000"/>
            <a:ext cx="10844784" cy="1371600"/>
          </a:xfrm>
          <a:prstGeom prst="roundRect">
            <a:avLst>
              <a:gd name="adj" fmla="val 6667"/>
            </a:avLst>
          </a:prstGeom>
          <a:solidFill>
            <a:srgbClr val="162944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" y="4572000"/>
            <a:ext cx="100218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находим в реальных ТЗ противоречия, которые люди пропускают. Чтобы измерить эффект, нужны реальные правки NET — и мы готовы к пилоту.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0954512" y="5486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 Talent Hub — кейс МТС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Команда 6</dc:creator>
  <cp:lastModifiedBy>Команда 6</cp:lastModifiedBy>
  <cp:revision>1</cp:revision>
  <dcterms:created xsi:type="dcterms:W3CDTF">2026-09-07T08:43:50Z</dcterms:created>
  <dcterms:modified xsi:type="dcterms:W3CDTF">2026-09-07T08:43:50Z</dcterms:modified>
</cp:coreProperties>
</file>