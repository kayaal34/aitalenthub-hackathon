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0:00–0:30. Здравствуйте! Мы создали ТЗ-Ревьюер для аналитика продукта NET — инструмент, который находит в техническом задании места, непонятные разработчику, ещё до передачи задачи в разработку.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0:30–1:00. Сейчас техзадание вычитывают вручную. Часть неточностей всё равно доходит до разработки — и тогда документ возвращают аналитику, требования пересогласовывают, реализацию переделывают. Наш инструмент показывает эти места раньше, пока документ ещё у аналитика.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Слева выбирается провайдер, модель, ключ и base URL — инструмент не привязан к одной модели. Справа три способа подать ТЗ: вставить текст, загрузить файл, взять пример.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1:00–3:10 — живое демо. План Б: этот и следующие слайды содержат настоящие экраны инструмента.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Ключевое доказательство: два раздела одного ТЗ требуют разной задержки. Инструмент привёл обе цитаты и задал вопрос аналитику.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Настоящий экран инструмента: список замечаний с фильтром по категории, раскрытое замечание с цитатой, объяснением и вопросом аналитику.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Кроме замечаний инструмент детерминированно проверяет 21 раздел шаблона: заполнен, пустой, помечен «не применимо», упомянут вне раздела или не найден.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3:10–4:10. Первые два слоя — обычный код, детерминированы и воспроизводимы. LLM отвечает только за смысл; промпт требует к каждому замечанию дословную цитату — в наших прогонах её содержали все двадцать. Провайдера меняли на живой Gemini без единой правки кода.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4:10–5:00. Финальная фраза читается дословно, 12–15 секунд.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8229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58368" y="1417320"/>
            <a:ext cx="108447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TALENT HUB  ·  КЕЙС МТС  ·  ПРОДУКТ NET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1965960"/>
            <a:ext cx="108447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ТЗ-Ревьюер</a:t>
            </a:r>
            <a:endParaRPr lang="en-US" sz="66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3246120"/>
            <a:ext cx="108447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9FB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AI-ревьюер технических заданий для аналитика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658368" y="4251960"/>
            <a:ext cx="1828800" cy="27432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58368" y="4572000"/>
            <a:ext cx="10844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6E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КОМАНДА 6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58368" y="4937760"/>
            <a:ext cx="108447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Кайаал Яхья</a:t>
            </a:r>
            <a:pPr indent="0" marL="0">
              <a:buNone/>
            </a:pPr>
            <a:r>
              <a:rPr lang="en-US" sz="1800" dirty="0">
                <a:solidFill>
                  <a:srgbClr val="9FB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AI Engineer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658368" y="5394960"/>
            <a:ext cx="108447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Караташоглу Фырат</a:t>
            </a:r>
            <a:pPr indent="0" marL="0">
              <a:buNone/>
            </a:pPr>
            <a:r>
              <a:rPr lang="en-US" sz="1800" dirty="0">
                <a:solidFill>
                  <a:srgbClr val="9FB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AI Engineer</a:t>
            </a:r>
            <a:endParaRPr lang="en-US" sz="2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566928"/>
            <a:ext cx="10844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400" kern="0" dirty="0">
                <a:solidFill>
                  <a:srgbClr val="E55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ПРОБЛЕМА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14400"/>
            <a:ext cx="108447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6000"/>
              </a:lnSpc>
              <a:buNone/>
            </a:pPr>
            <a:r>
              <a:rPr lang="en-US" sz="3200" b="1" dirty="0">
                <a:solidFill>
                  <a:srgbClr val="0E1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Неточность в ТЗ находят уже на разработке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58368" y="2514600"/>
            <a:ext cx="1964131" cy="1234440"/>
          </a:xfrm>
          <a:prstGeom prst="roundRect">
            <a:avLst>
              <a:gd name="adj" fmla="val 7407"/>
            </a:avLst>
          </a:prstGeom>
          <a:solidFill>
            <a:srgbClr val="F4F7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2514600"/>
            <a:ext cx="1817827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B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ТЗ готово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2622499" y="2514600"/>
            <a:ext cx="25603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3CD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2878531" y="2514600"/>
            <a:ext cx="1964131" cy="1234440"/>
          </a:xfrm>
          <a:prstGeom prst="roundRect">
            <a:avLst>
              <a:gd name="adj" fmla="val 7407"/>
            </a:avLst>
          </a:prstGeom>
          <a:solidFill>
            <a:srgbClr val="F4F7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951683" y="2514600"/>
            <a:ext cx="1817827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B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Разработка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4842662" y="2514600"/>
            <a:ext cx="25603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3CD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5098694" y="2514600"/>
            <a:ext cx="1964131" cy="1234440"/>
          </a:xfrm>
          <a:prstGeom prst="roundRect">
            <a:avLst>
              <a:gd name="adj" fmla="val 7407"/>
            </a:avLst>
          </a:prstGeom>
          <a:solidFill>
            <a:srgbClr val="FCEDEB"/>
          </a:solidFill>
          <a:ln w="19050">
            <a:solidFill>
              <a:srgbClr val="E5534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171846" y="2514600"/>
            <a:ext cx="1817827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8C2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Неоднозначность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7062826" y="2514600"/>
            <a:ext cx="25603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3CD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7318858" y="2514600"/>
            <a:ext cx="1964131" cy="1234440"/>
          </a:xfrm>
          <a:prstGeom prst="roundRect">
            <a:avLst>
              <a:gd name="adj" fmla="val 7407"/>
            </a:avLst>
          </a:prstGeom>
          <a:solidFill>
            <a:srgbClr val="FCEDEB"/>
          </a:solidFill>
          <a:ln w="19050">
            <a:solidFill>
              <a:srgbClr val="E5534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92010" y="2514600"/>
            <a:ext cx="1817827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8C2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Возврат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9282989" y="2514600"/>
            <a:ext cx="25603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3CD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9539021" y="2514600"/>
            <a:ext cx="1964131" cy="1234440"/>
          </a:xfrm>
          <a:prstGeom prst="roundRect">
            <a:avLst>
              <a:gd name="adj" fmla="val 7407"/>
            </a:avLst>
          </a:prstGeom>
          <a:solidFill>
            <a:srgbClr val="FCEDEB"/>
          </a:solidFill>
          <a:ln w="19050">
            <a:solidFill>
              <a:srgbClr val="E5534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612173" y="2514600"/>
            <a:ext cx="1817827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8C2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Переделка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658368" y="4343400"/>
            <a:ext cx="108447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600" dirty="0">
                <a:solidFill>
                  <a:srgbClr val="5A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Каждый возврат — это пересогласование, переделка и повторное тестирование.</a:t>
            </a:r>
            <a:endParaRPr lang="en-US" sz="2600" dirty="0"/>
          </a:p>
        </p:txBody>
      </p:sp>
      <p:sp>
        <p:nvSpPr>
          <p:cNvPr id="19" name="Text 17"/>
          <p:cNvSpPr txBox="1"/>
          <p:nvPr/>
        </p:nvSpPr>
        <p:spPr>
          <a:xfrm>
            <a:off x="10954512" y="54864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spc="100" kern="0" dirty="0">
                <a:solidFill>
                  <a:srgbClr val="C3CD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566928"/>
            <a:ext cx="10844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400" kern="0" dirty="0">
                <a:solidFill>
                  <a:srgbClr val="E55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ИНТЕРФЕЙС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14400"/>
            <a:ext cx="108447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6000"/>
              </a:lnSpc>
              <a:buNone/>
            </a:pPr>
            <a:r>
              <a:rPr lang="en-US" sz="3200" b="1" dirty="0">
                <a:solidFill>
                  <a:srgbClr val="0E1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Один экран: настройки слева, документ справа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1188720" y="1737360"/>
            <a:ext cx="9784080" cy="4873142"/>
          </a:xfrm>
          <a:prstGeom prst="roundRect">
            <a:avLst>
              <a:gd name="adj" fmla="val 93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77800" dist="50800" dir="5400000">
              <a:srgbClr val="8FA0B5">
                <a:alpha val="28000"/>
              </a:srgbClr>
            </a:outerShdw>
          </a:effectLst>
        </p:spPr>
      </p:sp>
      <p:pic>
        <p:nvPicPr>
          <p:cNvPr id="5" name="Image 0" descr="C:\Masaüstü\tz-reviewer\presentation\assets\full-inp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4440" y="1783080"/>
            <a:ext cx="9692640" cy="478170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954512" y="54864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spc="100" kern="0" dirty="0">
                <a:solidFill>
                  <a:srgbClr val="C3CD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566928"/>
            <a:ext cx="10844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400" kern="0" dirty="0">
                <a:solidFill>
                  <a:srgbClr val="E55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ДЕМО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14400"/>
            <a:ext cx="108447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6000"/>
              </a:lnSpc>
              <a:buNone/>
            </a:pPr>
            <a:r>
              <a:rPr lang="en-US" sz="3200" b="1" dirty="0">
                <a:solidFill>
                  <a:srgbClr val="0E1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Загрузил ТЗ — получил замечания с цитатами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58368" y="2057400"/>
            <a:ext cx="2505456" cy="1234440"/>
          </a:xfrm>
          <a:prstGeom prst="roundRect">
            <a:avLst>
              <a:gd name="adj" fmla="val 7407"/>
            </a:avLst>
          </a:prstGeom>
          <a:solidFill>
            <a:srgbClr val="F4F7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49808" y="2057400"/>
            <a:ext cx="23225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B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Аналитик</a:t>
            </a:r>
            <a:endParaRPr lang="en-US" sz="18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B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загружает ТЗ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3163824" y="2057400"/>
            <a:ext cx="274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3CD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3438144" y="2057400"/>
            <a:ext cx="2505456" cy="1234440"/>
          </a:xfrm>
          <a:prstGeom prst="roundRect">
            <a:avLst>
              <a:gd name="adj" fmla="val 7407"/>
            </a:avLst>
          </a:prstGeom>
          <a:solidFill>
            <a:srgbClr val="F4F7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29584" y="2057400"/>
            <a:ext cx="23225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B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Нажимает</a:t>
            </a:r>
            <a:endParaRPr lang="en-US" sz="18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B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«Проверить»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5943600" y="2057400"/>
            <a:ext cx="274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3CD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6217920" y="2057400"/>
            <a:ext cx="2505456" cy="1234440"/>
          </a:xfrm>
          <a:prstGeom prst="roundRect">
            <a:avLst>
              <a:gd name="adj" fmla="val 7407"/>
            </a:avLst>
          </a:prstGeom>
          <a:solidFill>
            <a:srgbClr val="F4F7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09360" y="2057400"/>
            <a:ext cx="23225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B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Разбор → шаблон</a:t>
            </a:r>
            <a:endParaRPr lang="en-US" sz="18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B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LLM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8723376" y="2057400"/>
            <a:ext cx="274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3CD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8997696" y="2057400"/>
            <a:ext cx="2505456" cy="1234440"/>
          </a:xfrm>
          <a:prstGeom prst="roundRect">
            <a:avLst>
              <a:gd name="adj" fmla="val 7407"/>
            </a:avLst>
          </a:prstGeom>
          <a:solidFill>
            <a:srgbClr val="E9F4EF"/>
          </a:solidFill>
          <a:ln w="19050">
            <a:solidFill>
              <a:srgbClr val="2E7D5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89136" y="2057400"/>
            <a:ext cx="23225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5C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Замечания</a:t>
            </a:r>
            <a:endParaRPr lang="en-US" sz="18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5C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 цитатами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822960" y="3703320"/>
            <a:ext cx="10515600" cy="3083560"/>
          </a:xfrm>
          <a:prstGeom prst="roundRect">
            <a:avLst>
              <a:gd name="adj" fmla="val 148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77800" dist="50800" dir="5400000">
              <a:srgbClr val="8FA0B5">
                <a:alpha val="28000"/>
              </a:srgbClr>
            </a:outerShdw>
          </a:effectLst>
        </p:spPr>
      </p:sp>
      <p:pic>
        <p:nvPicPr>
          <p:cNvPr id="16" name="Image 0" descr="C:\Masaüstü\tz-reviewer\presentation\assets\ui-resul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3749040"/>
            <a:ext cx="10424160" cy="2992120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10954512" y="54864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spc="100" kern="0" dirty="0">
                <a:solidFill>
                  <a:srgbClr val="C3CD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566928"/>
            <a:ext cx="10844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400" kern="0" dirty="0">
                <a:solidFill>
                  <a:srgbClr val="E55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НАХОДИТ · 1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14400"/>
            <a:ext cx="108447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6000"/>
              </a:lnSpc>
              <a:buNone/>
            </a:pPr>
            <a:r>
              <a:rPr lang="en-US" sz="3200" b="1" dirty="0">
                <a:solidFill>
                  <a:srgbClr val="0E1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Противоречие внутри одного документа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22960" y="1965960"/>
            <a:ext cx="10515600" cy="4028224"/>
          </a:xfrm>
          <a:prstGeom prst="roundRect">
            <a:avLst>
              <a:gd name="adj" fmla="val 113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77800" dist="50800" dir="5400000">
              <a:srgbClr val="8FA0B5">
                <a:alpha val="28000"/>
              </a:srgbClr>
            </a:outerShdw>
          </a:effectLst>
        </p:spPr>
      </p:sp>
      <p:pic>
        <p:nvPicPr>
          <p:cNvPr id="5" name="Image 0" descr="C:\Masaüstü\tz-reviewer\presentation\assets\llm-outp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2011680"/>
            <a:ext cx="10424160" cy="393678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954512" y="54864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spc="100" kern="0" dirty="0">
                <a:solidFill>
                  <a:srgbClr val="C3CD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566928"/>
            <a:ext cx="10844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400" kern="0" dirty="0">
                <a:solidFill>
                  <a:srgbClr val="E55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ИНТЕРФЕЙС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14400"/>
            <a:ext cx="108447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6000"/>
              </a:lnSpc>
              <a:buNone/>
            </a:pPr>
            <a:r>
              <a:rPr lang="en-US" sz="3200" b="1" dirty="0">
                <a:solidFill>
                  <a:srgbClr val="0E1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Каждое замечание раскрывается до цитаты и вопроса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1188720" y="1965960"/>
            <a:ext cx="9784080" cy="4617720"/>
          </a:xfrm>
          <a:prstGeom prst="roundRect">
            <a:avLst>
              <a:gd name="adj" fmla="val 99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77800" dist="50800" dir="5400000">
              <a:srgbClr val="8FA0B5">
                <a:alpha val="28000"/>
              </a:srgbClr>
            </a:outerShdw>
          </a:effectLst>
        </p:spPr>
      </p:sp>
      <p:pic>
        <p:nvPicPr>
          <p:cNvPr id="5" name="Image 0" descr="C:\Masaüstü\tz-reviewer\presentation\assets\ui-finding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4440" y="2011680"/>
            <a:ext cx="9692640" cy="45262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954512" y="54864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spc="100" kern="0" dirty="0">
                <a:solidFill>
                  <a:srgbClr val="C3CD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566928"/>
            <a:ext cx="10844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400" kern="0" dirty="0">
                <a:solidFill>
                  <a:srgbClr val="E55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ВТОРОЙ РЕЗУЛЬТАТ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14400"/>
            <a:ext cx="108447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6000"/>
              </a:lnSpc>
              <a:buNone/>
            </a:pPr>
            <a:r>
              <a:rPr lang="en-US" sz="3200" b="1" dirty="0">
                <a:solidFill>
                  <a:srgbClr val="0E1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Проверка структуры по официальному шаблону МТС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1005840" y="2148840"/>
            <a:ext cx="10149840" cy="3792172"/>
          </a:xfrm>
          <a:prstGeom prst="roundRect">
            <a:avLst>
              <a:gd name="adj" fmla="val 12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77800" dist="50800" dir="5400000">
              <a:srgbClr val="8FA0B5">
                <a:alpha val="28000"/>
              </a:srgbClr>
            </a:outerShdw>
          </a:effectLst>
        </p:spPr>
      </p:sp>
      <p:pic>
        <p:nvPicPr>
          <p:cNvPr id="5" name="Image 0" descr="C:\Masaüstü\tz-reviewer\presentation\assets\ui-cover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2194560"/>
            <a:ext cx="10058400" cy="37007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954512" y="54864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spc="100" kern="0" dirty="0">
                <a:solidFill>
                  <a:srgbClr val="C3CD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566928"/>
            <a:ext cx="10844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400" kern="0" dirty="0">
                <a:solidFill>
                  <a:srgbClr val="E55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АРХИТЕКТУРА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14400"/>
            <a:ext cx="108447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6000"/>
              </a:lnSpc>
              <a:buNone/>
            </a:pPr>
            <a:r>
              <a:rPr lang="en-US" sz="3200" b="1" dirty="0">
                <a:solidFill>
                  <a:srgbClr val="0E1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Три слоя — и LLM только один из них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58368" y="2103120"/>
            <a:ext cx="3407664" cy="2148840"/>
          </a:xfrm>
          <a:prstGeom prst="roundRect">
            <a:avLst>
              <a:gd name="adj" fmla="val 4255"/>
            </a:avLst>
          </a:prstGeom>
          <a:solidFill>
            <a:srgbClr val="F4F7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2304288"/>
            <a:ext cx="289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B9C4D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743200"/>
            <a:ext cx="289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0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Разбор документа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3182112"/>
            <a:ext cx="289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5A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и Markdown →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5A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разделы и таблицы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4376928" y="2103120"/>
            <a:ext cx="3407664" cy="2148840"/>
          </a:xfrm>
          <a:prstGeom prst="roundRect">
            <a:avLst>
              <a:gd name="adj" fmla="val 4255"/>
            </a:avLst>
          </a:prstGeom>
          <a:solidFill>
            <a:srgbClr val="F4F7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632960" y="2304288"/>
            <a:ext cx="289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B9C4D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4632960" y="2743200"/>
            <a:ext cx="289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0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Критерии МТС</a:t>
            </a:r>
            <a:endParaRPr lang="en-US" sz="2100" dirty="0"/>
          </a:p>
        </p:txBody>
      </p:sp>
      <p:sp>
        <p:nvSpPr>
          <p:cNvPr id="11" name="Text 9"/>
          <p:cNvSpPr txBox="1"/>
          <p:nvPr/>
        </p:nvSpPr>
        <p:spPr>
          <a:xfrm>
            <a:off x="4632960" y="3182112"/>
            <a:ext cx="289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5A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раздел шаблона +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5A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требований кейса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8095488" y="2103120"/>
            <a:ext cx="3407664" cy="2148840"/>
          </a:xfrm>
          <a:prstGeom prst="roundRect">
            <a:avLst>
              <a:gd name="adj" fmla="val 4255"/>
            </a:avLst>
          </a:prstGeom>
          <a:solidFill>
            <a:srgbClr val="FBF3E4"/>
          </a:solidFill>
          <a:ln w="19050">
            <a:solidFill>
              <a:srgbClr val="C8791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51520" y="2304288"/>
            <a:ext cx="289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C879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8351520" y="2743200"/>
            <a:ext cx="289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0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LLM-ревью</a:t>
            </a:r>
            <a:endParaRPr lang="en-US" sz="2100" dirty="0"/>
          </a:p>
        </p:txBody>
      </p:sp>
      <p:sp>
        <p:nvSpPr>
          <p:cNvPr id="15" name="Text 13"/>
          <p:cNvSpPr txBox="1"/>
          <p:nvPr/>
        </p:nvSpPr>
        <p:spPr>
          <a:xfrm>
            <a:off x="8351520" y="3182112"/>
            <a:ext cx="289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5A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категории,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5A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обязательная цитата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658368" y="4800600"/>
            <a:ext cx="1084478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400" dirty="0">
                <a:solidFill>
                  <a:srgbClr val="1B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Структуру и критерии проверяет код. Без доступа к модели инструмент продолжает работать.</a:t>
            </a:r>
            <a:endParaRPr lang="en-US" sz="2400" dirty="0"/>
          </a:p>
        </p:txBody>
      </p:sp>
      <p:sp>
        <p:nvSpPr>
          <p:cNvPr id="17" name="Text 15"/>
          <p:cNvSpPr txBox="1"/>
          <p:nvPr/>
        </p:nvSpPr>
        <p:spPr>
          <a:xfrm>
            <a:off x="10954512" y="54864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spc="100" kern="0" dirty="0">
                <a:solidFill>
                  <a:srgbClr val="C3CD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E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566928"/>
            <a:ext cx="10844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4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ГОТОВНОСТЬ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14400"/>
            <a:ext cx="108447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6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Прототип работает — следующий шаг пилот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58368" y="2057400"/>
            <a:ext cx="3407664" cy="2103120"/>
          </a:xfrm>
          <a:prstGeom prst="roundRect">
            <a:avLst>
              <a:gd name="adj" fmla="val 4348"/>
            </a:avLst>
          </a:prstGeom>
          <a:solidFill>
            <a:srgbClr val="1B2E4A"/>
          </a:solidFill>
          <a:ln w="12700">
            <a:solidFill>
              <a:srgbClr val="27405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2267712"/>
            <a:ext cx="289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2E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ИЗМЕРЕНО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697480"/>
            <a:ext cx="28956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8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D6D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реальных ТЗ</a:t>
            </a:r>
            <a:endParaRPr lang="en-US" sz="1800" dirty="0"/>
          </a:p>
          <a:p>
            <a:pPr marL="342900" indent="-342900">
              <a:lnSpc>
                <a:spcPct val="118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D6D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замечаний с цитатой</a:t>
            </a:r>
            <a:endParaRPr lang="en-US" sz="1800" dirty="0"/>
          </a:p>
          <a:p>
            <a:pPr marL="342900" indent="-342900">
              <a:lnSpc>
                <a:spcPct val="118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D6D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 автотеста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376928" y="2057400"/>
            <a:ext cx="3407664" cy="2103120"/>
          </a:xfrm>
          <a:prstGeom prst="roundRect">
            <a:avLst>
              <a:gd name="adj" fmla="val 4348"/>
            </a:avLst>
          </a:prstGeom>
          <a:solidFill>
            <a:srgbClr val="1B2E4A"/>
          </a:solidFill>
          <a:ln w="12700">
            <a:solidFill>
              <a:srgbClr val="27405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632960" y="2267712"/>
            <a:ext cx="289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C87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ПОКА ГИПОТЕЗА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4632960" y="2697480"/>
            <a:ext cx="28956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8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D6D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 / recall</a:t>
            </a:r>
            <a:endParaRPr lang="en-US" sz="1800" dirty="0"/>
          </a:p>
          <a:p>
            <a:pPr marL="342900" indent="-342900">
              <a:lnSpc>
                <a:spcPct val="118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D6D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эффект на уточнениях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8095488" y="2057400"/>
            <a:ext cx="3407664" cy="2103120"/>
          </a:xfrm>
          <a:prstGeom prst="roundRect">
            <a:avLst>
              <a:gd name="adj" fmla="val 4348"/>
            </a:avLst>
          </a:prstGeom>
          <a:solidFill>
            <a:srgbClr val="1B2E4A"/>
          </a:solidFill>
          <a:ln w="12700">
            <a:solidFill>
              <a:srgbClr val="27405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351520" y="2267712"/>
            <a:ext cx="289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СЛЕДУЮЩИЙ ШАГ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8351520" y="2697480"/>
            <a:ext cx="28956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8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D6D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правки от NET</a:t>
            </a:r>
            <a:endParaRPr lang="en-US" sz="1800" dirty="0"/>
          </a:p>
          <a:p>
            <a:pPr marL="342900" indent="-342900">
              <a:lnSpc>
                <a:spcPct val="118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D6D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пилот с аналитиками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658368" y="4572000"/>
            <a:ext cx="10844784" cy="1371600"/>
          </a:xfrm>
          <a:prstGeom prst="roundRect">
            <a:avLst>
              <a:gd name="adj" fmla="val 6667"/>
            </a:avLst>
          </a:prstGeom>
          <a:solidFill>
            <a:srgbClr val="162944"/>
          </a:solidFill>
          <a:ln w="19050">
            <a:solidFill>
              <a:srgbClr val="C9A22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69848" y="4572000"/>
            <a:ext cx="1002182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Мы находим в реальных ТЗ противоречия, которые люди пропускают. Чтобы измерить эффект, нужны реальные правки NET — и мы готовы к пилоту.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10954512" y="54864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spc="100" kern="0" dirty="0">
                <a:solidFill>
                  <a:srgbClr val="4A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AI Talent Hub — кейс МТС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Команда 6</dc:creator>
  <cp:lastModifiedBy>Команда 6</cp:lastModifiedBy>
  <cp:revision>1</cp:revision>
  <dcterms:created xsi:type="dcterms:W3CDTF">2026-09-07T09:42:39Z</dcterms:created>
  <dcterms:modified xsi:type="dcterms:W3CDTF">2026-09-07T09:42:39Z</dcterms:modified>
</cp:coreProperties>
</file>